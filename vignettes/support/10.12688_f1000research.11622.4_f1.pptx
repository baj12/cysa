
<file path=[Content_Types].xml><?xml version="1.0" encoding="utf-8"?>
<Types xmlns="http://schemas.openxmlformats.org/package/2006/content-types">
  <Default Extension="rels" ContentType="application/vnd.openxmlformats-package.relationships+xml"/>
  <Override ContentType="image/png" PartName="/ppt/media/slide1_image_rId2.png"/>
  <Override ContentType="image/gif" PartName="/ppt/media/slide1_image_rId3.gif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ns6="http://schemas.openxmlformats.org/drawingml/2006/chartDrawing" xmlns:dgm="http://schemas.openxmlformats.org/drawingml/2006/diagram" xmlns:pic="http://schemas.openxmlformats.org/drawingml/2006/picture" xmlns:wp="http://schemas.openxmlformats.org/drawingml/2006/wordprocessingDrawing" xmlns:ns10="http://schemas.openxmlformats.org/drawingml/2006/spreadsheetDrawing" xmlns:ns11="http://schemas.openxmlformats.org/drawingml/2006/compatibility" xmlns:ns12="http://schemas.openxmlformats.org/drawingml/2006/lockedCanvas">
  <p:sldMasterIdLst>
    <p:sldMasterId id="2643362597" r:id="rId1"/>
  </p:sldMasterIdLst>
  <p:sldIdLst>
    <p:sldId id="1334686725" r:id="rId3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Target="slideMasters/slideMaster1.xml" Type="http://schemas.openxmlformats.org/officeDocument/2006/relationships/slideMaster" Id="rId1"/><Relationship Target="theme/theme1.xml" Type="http://schemas.openxmlformats.org/officeDocument/2006/relationships/theme" Id="rId2"/><Relationship Target="slides/slide1.xml" Type="http://schemas.openxmlformats.org/officeDocument/2006/relationships/slide" Id="rId3"/></Relationships>
</file>

<file path=ppt/notesSlides/notesSlide1.xml><?xml version="1.0" encoding="utf-8"?>
<p:notes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ns6="http://schemas.openxmlformats.org/drawingml/2006/chartDrawing" xmlns:dgm="http://schemas.openxmlformats.org/drawingml/2006/diagram" xmlns:pic="http://schemas.openxmlformats.org/drawingml/2006/picture" xmlns:wp="http://schemas.openxmlformats.org/drawingml/2006/wordprocessingDrawing" xmlns:ns10="http://schemas.openxmlformats.org/drawingml/2006/spreadsheetDrawing" xmlns:ns11="http://schemas.openxmlformats.org/drawingml/2006/compatibility" xmlns:ns12="http://schemas.openxmlformats.org/drawingml/2006/lockedCanva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true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mtClean="false"/>
              <a:t/>
            </a:r>
            <a:endParaRPr/>
          </a:p>
          <a:p>
            <a:r>
              <a:rPr b="true" i="false"/>
              <a:t>Figure 1. Per-sample smoothed densities of marker expression (arcsinh-transformed) of 10 lineage markers and 14 functional markers in the PBMC dataset.</a:t>
            </a:r>
            <a:br/>
            <a:r>
              <a:rPr b="false" i="false"/>
              <a:t>Two conditions: unstimulated (Ref) and stimulated with BCR/FcR-XL (BCRXL) for each of the 8 healthy donors are presented and colored by experimental condition. </a:t>
            </a:r>
          </a:p>
          <a:p>
            <a:r>
              <a:rPr b="false" i="false"/>
              <a:t>Nowicka M, Krieg C, Crowell HL </a:t>
            </a:r>
            <a:r>
              <a:rPr b="false" i="true"/>
              <a:t>et al.</a:t>
            </a:r>
            <a:r>
              <a:rPr b="false" i="false"/>
              <a:t>. CyTOF workflow: differential discovery in high-throughput high-dimensional cytometry datasets [version 4]. </a:t>
            </a:r>
            <a:r>
              <a:rPr b="false" i="true"/>
              <a:t>F1000Research</a:t>
            </a:r>
            <a:r>
              <a:rPr b="false" i="false"/>
              <a:t> 2019, </a:t>
            </a:r>
            <a:r>
              <a:rPr b="true" i="false"/>
              <a:t>6</a:t>
            </a:r>
            <a:r>
              <a:rPr b="false" i="false"/>
              <a:t>:748 (doi: 10.12688/f1000research.11622.4)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ns6="http://schemas.openxmlformats.org/drawingml/2006/chartDrawing" xmlns:dgm="http://schemas.openxmlformats.org/drawingml/2006/diagram" xmlns:pic="http://schemas.openxmlformats.org/drawingml/2006/picture" xmlns:wp="http://schemas.openxmlformats.org/drawingml/2006/wordprocessingDrawing" xmlns:ns10="http://schemas.openxmlformats.org/drawingml/2006/spreadsheetDrawing" xmlns:ns11="http://schemas.openxmlformats.org/drawingml/2006/compatibility" xmlns:ns12="http://schemas.openxmlformats.org/drawingml/2006/lockedCanvas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Target="../slideLayouts/slideLayout1.xml" Type="http://schemas.openxmlformats.org/officeDocument/2006/relationships/slideLayout" Id="rId1"/><Relationship Target="../theme/theme1.xml" Type="http://schemas.openxmlformats.org/officeDocument/2006/relationships/theme" Id="rId2"/></Relationships>
</file>

<file path=ppt/slideMasters/slideMaster1.xml><?xml version="1.0" encoding="utf-8"?>
<p:sldMaster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ns6="http://schemas.openxmlformats.org/drawingml/2006/chartDrawing" xmlns:dgm="http://schemas.openxmlformats.org/drawingml/2006/diagram" xmlns:pic="http://schemas.openxmlformats.org/drawingml/2006/picture" xmlns:wp="http://schemas.openxmlformats.org/drawingml/2006/wordprocessingDrawing" xmlns:ns10="http://schemas.openxmlformats.org/drawingml/2006/spreadsheetDrawing" xmlns:ns11="http://schemas.openxmlformats.org/drawingml/2006/compatibility" xmlns:ns12="http://schemas.openxmlformats.org/drawingml/2006/lockedCanva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43389511" r:id="rId1"/>
  </p:sldLayoutIdLst>
</p:sldMaster>
</file>

<file path=ppt/slides/_rels/slide1.xml.rels><?xml version="1.0" encoding="UTF-8" standalone="yes"?><Relationships xmlns="http://schemas.openxmlformats.org/package/2006/relationships"><Relationship Target="../slideLayouts/slideLayout1.xml" Type="http://schemas.openxmlformats.org/officeDocument/2006/relationships/slideLayout" Id="rId1"/><Relationship Target="../media/slide1_image_rId2.png" Type="http://schemas.openxmlformats.org/officeDocument/2006/relationships/image" Id="rId2"/><Relationship Target="../media/slide1_image_rId3.gif" Type="http://schemas.openxmlformats.org/officeDocument/2006/relationships/image" Id="rId3"/><Relationship Target="../notesSlides/notesSlide1.xml" Type="http://schemas.openxmlformats.org/officeDocument/2006/relationships/notesSlide" Id="rId4"/></Relationships>
</file>

<file path=ppt/slides/slide1.xml><?xml version="1.0" encoding="utf-8"?>
<p:sld xmlns:r="http://schemas.openxmlformats.org/officeDocument/2006/relationships" xmlns:a="http://schemas.openxmlformats.org/drawingml/2006/main" xmlns:p="http://schemas.openxmlformats.org/presentationml/2006/main" xmlns:mc="http://schemas.openxmlformats.org/markup-compatibility/2006" xmlns:c="http://schemas.openxmlformats.org/drawingml/2006/chart" xmlns:ns6="http://schemas.openxmlformats.org/drawingml/2006/chartDrawing" xmlns:dgm="http://schemas.openxmlformats.org/drawingml/2006/diagram" xmlns:pic="http://schemas.openxmlformats.org/drawingml/2006/picture" xmlns:wp="http://schemas.openxmlformats.org/drawingml/2006/wordprocessingDrawing" xmlns:ns10="http://schemas.openxmlformats.org/drawingml/2006/spreadsheetDrawing" xmlns:ns11="http://schemas.openxmlformats.org/drawingml/2006/compatibility" xmlns:ns12="http://schemas.openxmlformats.org/drawingml/2006/lockedCanva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Figure" descr="figure.img"/>
          <p:cNvPicPr>
            <a:picLocks noChangeAspect="true"/>
          </p:cNvPicPr>
          <p:nvPr/>
        </p:nvPicPr>
        <p:blipFill>
          <a:blip cstate="print" r:embed="rId3"/>
          <a:stretch>
            <a:fillRect/>
          </a:stretch>
        </p:blipFill>
        <p:spPr>
          <a:xfrm>
            <a:off x="0" y="885191"/>
            <a:ext cx="9144000" cy="5148072"/>
          </a:xfrm>
          <a:prstGeom prst="rect">
            <a:avLst/>
          </a:prstGeom>
        </p:spPr>
      </p:pic>
      <p:pic>
        <p:nvPicPr>
          <p:cNvPr id="5" name="F1000Research" descr="F1000Research.png"/>
          <p:cNvPicPr>
            <a:picLocks noChangeAspect="true"/>
          </p:cNvPicPr>
          <p:nvPr/>
        </p:nvPicPr>
        <p:blipFill>
          <a:blip cstate="print" r:embed="rId2"/>
          <a:stretch>
            <a:fillRect/>
          </a:stretch>
        </p:blipFill>
        <p:spPr>
          <a:xfrm>
            <a:off x="7167748" y="6347445"/>
            <a:ext cx="1519051" cy="167654"/>
          </a:xfrm>
          <a:prstGeom prst="rect">
            <a:avLst/>
          </a:prstGeom>
        </p:spPr>
      </p:pic>
      <p:sp>
        <p:nvSpPr>
          <p:cNvPr id="4" name="TextBox 3"/>
          <p:cNvSpPr txBox="true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algn="ctr"/>
            <a:r>
              <a:rPr sz="1600"/>
              <a:t>Figure 1. Per-sample smoothed densities of marker expression (arcsinh-transformed) of 10 lineage markers...</a:t>
            </a:r>
            <a:endParaRPr/>
          </a:p>
        </p:txBody>
      </p:sp>
      <p:sp>
        <p:nvSpPr>
          <p:cNvPr id="4" name="TextBox 3"/>
          <p:cNvSpPr txBox="true"/>
          <p:nvPr/>
        </p:nvSpPr>
        <p:spPr>
          <a:xfrm>
            <a:off x="457200" y="6179791"/>
            <a:ext cx="5144000" cy="369332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/>
            <a:r>
              <a:rPr sz="1000"/>
              <a:t>Nowicka M, Krieg C, Crowell HL et al. CyTOF workflow: differential discovery in high-throughput high-dimensional cytometry datasets [version 4]. F1000Research 2019, 6:748 (doi: 10.12688/f1000research.11622.4)</a:t>
            </a:r>
            <a:endParaRPr/>
          </a:p>
        </p:txBody>
      </p:sp>
    </p:spTree>
  </p:cSld>
</p:sld>
</file>

<file path=ppt/theme/theme1.xml><?xml version="1.0" encoding="utf-8"?>
<a:theme xmlns:w="http://schemas.openxmlformats.org/wordprocessingml/2006/main" xmlns:m="http://schemas.openxmlformats.org/officeDocument/2006/math" xmlns:r="http://schemas.openxmlformats.org/officeDocument/2006/relationships" xmlns:wp="http://schemas.openxmlformats.org/drawingml/2006/wordprocessingDrawing" xmlns:a="http://schemas.openxmlformats.org/drawingml/2006/main" xmlns:ns6="http://schemas.openxmlformats.org/schemaLibrary/2006/main" xmlns:c="http://schemas.openxmlformats.org/drawingml/2006/chart" xmlns:ns8="http://schemas.openxmlformats.org/drawingml/2006/chartDrawing" xmlns:dgm="http://schemas.openxmlformats.org/drawingml/2006/diagram" xmlns:pic="http://schemas.openxmlformats.org/drawingml/2006/picture" xmlns:ns11="http://schemas.openxmlformats.org/drawingml/2006/spreadsheetDrawing" xmlns:dsp="http://schemas.microsoft.com/office/drawing/2008/diagram" xmlns:o="urn:schemas-microsoft-com:office:office" xmlns:ns14="urn:schemas-microsoft-com:office:excel" xmlns:v="urn:schemas-microsoft-com:vml" xmlns:w10="urn:schemas-microsoft-com:office:word" xmlns:ns17="urn:schemas-microsoft-com:office:powerpoint" xmlns:odx="http://opendope.org/xpaths" xmlns:odc="http://opendope.org/conditions" xmlns:odq="http://opendope.org/questions" xmlns:oda="http://opendope.org/answers" xmlns:odi="http://opendope.org/components" xmlns:odgm="http://opendope.org/SmartArt/DataHierarchy" xmlns:ns25="http://schemas.openxmlformats.org/officeDocument/2006/bibliography" xmlns:ns26="http://schemas.openxmlformats.org/drawingml/2006/compatibility" xmlns:ns27="http://schemas.openxmlformats.org/drawingml/2006/lockedCanva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